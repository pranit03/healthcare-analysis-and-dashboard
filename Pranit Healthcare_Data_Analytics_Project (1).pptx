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9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4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22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73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73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2011680"/>
            <a:ext cx="6949440" cy="6949440"/>
          </a:xfrm>
          <a:prstGeom prst="ellipse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0E9AA7">
              <a:alpha val="10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41148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42" y="584302"/>
            <a:ext cx="294437" cy="2944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4754880"/>
            <a:ext cx="5120640" cy="822960"/>
          </a:xfrm>
          <a:custGeom>
            <a:avLst/>
            <a:gdLst/>
            <a:ahLst/>
            <a:cxnLst/>
            <a:rect l="l" t="t" r="r" b="b"/>
            <a:pathLst>
              <a:path w="5120640" h="822960">
                <a:moveTo>
                  <a:pt x="0" y="411480"/>
                </a:moveTo>
                <a:lnTo>
                  <a:pt x="1097280" y="411480"/>
                </a:lnTo>
                <a:lnTo>
                  <a:pt x="1371600" y="411480"/>
                </a:lnTo>
                <a:lnTo>
                  <a:pt x="1600200" y="91440"/>
                </a:lnTo>
                <a:lnTo>
                  <a:pt x="1874520" y="731520"/>
                </a:lnTo>
                <a:lnTo>
                  <a:pt x="2103120" y="411480"/>
                </a:lnTo>
                <a:lnTo>
                  <a:pt x="2377440" y="411480"/>
                </a:lnTo>
                <a:lnTo>
                  <a:pt x="2514600" y="274320"/>
                </a:lnTo>
                <a:lnTo>
                  <a:pt x="2697480" y="411480"/>
                </a:lnTo>
                <a:lnTo>
                  <a:pt x="3108960" y="411480"/>
                </a:lnTo>
                <a:lnTo>
                  <a:pt x="3337560" y="45720"/>
                </a:lnTo>
                <a:lnTo>
                  <a:pt x="3611880" y="777240"/>
                </a:lnTo>
                <a:lnTo>
                  <a:pt x="3840480" y="411480"/>
                </a:lnTo>
                <a:lnTo>
                  <a:pt x="5120640" y="411480"/>
                </a:lnTo>
              </a:path>
            </a:pathLst>
          </a:custGeom>
          <a:noFill/>
          <a:ln w="31750">
            <a:solidFill>
              <a:srgbClr val="5FD3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PROJECT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8288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Data Analysis and Dashboard</a:t>
            </a:r>
          </a:p>
          <a:p>
            <a:pPr marL="0" indent="0">
              <a:buNone/>
            </a:pP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290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treatment and cost insights using Python, SQL and Power BI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Pranit Patil 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72400" y="1554480"/>
            <a:ext cx="1965960" cy="1965960"/>
          </a:xfrm>
          <a:prstGeom prst="roundRect">
            <a:avLst>
              <a:gd name="adj" fmla="val 6977"/>
            </a:avLst>
          </a:prstGeom>
          <a:solidFill>
            <a:srgbClr val="123F5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19202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~96K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2697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921240" y="1554480"/>
            <a:ext cx="1965960" cy="1965960"/>
          </a:xfrm>
          <a:prstGeom prst="roundRect">
            <a:avLst>
              <a:gd name="adj" fmla="val 6977"/>
            </a:avLst>
          </a:prstGeom>
          <a:solidFill>
            <a:srgbClr val="123F5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921240" y="19202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9921240" y="2697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charts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772400" y="3703320"/>
            <a:ext cx="1965960" cy="1965960"/>
          </a:xfrm>
          <a:prstGeom prst="roundRect">
            <a:avLst>
              <a:gd name="adj" fmla="val 6977"/>
            </a:avLst>
          </a:prstGeom>
          <a:solidFill>
            <a:srgbClr val="123F5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0" y="40690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4846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921240" y="3703320"/>
            <a:ext cx="1965960" cy="1965960"/>
          </a:xfrm>
          <a:prstGeom prst="roundRect">
            <a:avLst>
              <a:gd name="adj" fmla="val 6977"/>
            </a:avLst>
          </a:prstGeom>
          <a:solidFill>
            <a:srgbClr val="123F5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21240" y="40690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9921240" y="4846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E9AA7">
              <a:alpha val="10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486400"/>
            <a:ext cx="2560320" cy="2560320"/>
          </a:xfrm>
          <a:prstGeom prst="ellipse">
            <a:avLst/>
          </a:prstGeom>
          <a:solidFill>
            <a:srgbClr val="0B2A3C">
              <a:alpha val="7000"/>
            </a:srgbClr>
          </a:solidFill>
          <a:ln w="12700">
            <a:solidFill>
              <a:srgbClr val="0B2A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777240" cy="7772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557327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60350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and workflow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170261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2860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Matplotlib and Seaborn for cleaning, EDA and statistical charts: distributions, skew and outliers.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97680" y="13716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26280" y="155448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1702613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5780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4526280" y="22860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business questions on demographics, diagnosis, treatment, hospitals, billing and outcomes.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46720" y="13716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75320" y="155448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453" y="1702613"/>
            <a:ext cx="252374" cy="25237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0684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8275320" y="22860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with KPIs, filters and drill-downs for hospital decision-makers.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workflow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48640" y="4343400"/>
            <a:ext cx="20574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clean data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2788920" y="434340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2788920" y="4343400"/>
            <a:ext cx="20574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with Python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5029200" y="434340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029200" y="4343400"/>
            <a:ext cx="20574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with SQL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7269480" y="434340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269480" y="4343400"/>
            <a:ext cx="20574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in Power BI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9509760" y="434340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509760" y="4343400"/>
            <a:ext cx="20574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and actions</a:t>
            </a:r>
            <a:endParaRPr lang="en-US" sz="200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who the patients are, what they are treated for, what it costs and how outcomes vary across hospitals.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73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E9AA7">
              <a:alpha val="10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486400"/>
            <a:ext cx="2560320" cy="2560320"/>
          </a:xfrm>
          <a:prstGeom prst="ellipse">
            <a:avLst/>
          </a:prstGeom>
          <a:solidFill>
            <a:srgbClr val="0B2A3C">
              <a:alpha val="7000"/>
            </a:srgbClr>
          </a:solidFill>
          <a:ln w="12700">
            <a:solidFill>
              <a:srgbClr val="0B2A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777240" cy="7772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557327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EDA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60350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group distribution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user-data/uploads/Screenshot_2026-10-18_1730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296" y="1463040"/>
            <a:ext cx="3203369" cy="2971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4709160"/>
            <a:ext cx="5349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share of each blood type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 shows each category as a part of 100%, ideal for 8 to 9 groups.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 (28.3%), A+ (19.4%) and O+ (16.5%) cover about 64% of patients.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263640" y="137160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/mnt/user-data/uploads/Screenshot_2026-10-18_1731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29681"/>
            <a:ext cx="5166360" cy="2638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55080" y="4709160"/>
            <a:ext cx="5349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plot: absolute frequency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compare raw counts more accurately than pie slices.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12.1% of blood types are Unknown, a data-quality gap to fix at intake.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73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E9AA7">
              <a:alpha val="10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486400"/>
            <a:ext cx="2560320" cy="2560320"/>
          </a:xfrm>
          <a:prstGeom prst="ellipse">
            <a:avLst/>
          </a:prstGeom>
          <a:solidFill>
            <a:srgbClr val="0B2A3C">
              <a:alpha val="7000"/>
            </a:srgbClr>
          </a:solidFill>
          <a:ln w="12700">
            <a:solidFill>
              <a:srgbClr val="0B2A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777240" cy="7772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557327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EDA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60350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and department load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user-data/uploads/Screenshot_2026-10-18_173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18" y="1463040"/>
            <a:ext cx="4638524" cy="2971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4709160"/>
            <a:ext cx="5349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patients by gender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compare counts across categories.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and female patients are almost equal; other categories are under 3%.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263640" y="137160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/mnt/user-data/uploads/Screenshot_2026-10-18_1732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601" y="1463040"/>
            <a:ext cx="3496759" cy="29718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55080" y="4709160"/>
            <a:ext cx="5349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bar: department by gender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shows total volume and gender mix together.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 is busiest (about 19K); Endocrinology is lowest (about 5K).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73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E9AA7">
              <a:alpha val="10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486400"/>
            <a:ext cx="2560320" cy="2560320"/>
          </a:xfrm>
          <a:prstGeom prst="ellipse">
            <a:avLst/>
          </a:prstGeom>
          <a:solidFill>
            <a:srgbClr val="0B2A3C">
              <a:alpha val="7000"/>
            </a:srgbClr>
          </a:solidFill>
          <a:ln w="12700">
            <a:solidFill>
              <a:srgbClr val="0B2A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777240" cy="7772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557327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STATISTICS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60350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amount analysis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user-data/uploads/Screenshot_2026-10-18_1731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463040"/>
            <a:ext cx="4160520" cy="2971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4709160"/>
            <a:ext cx="5349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Histogram: shape of the bills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bins a numeric variable to reveal its distribution.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Right-skewed: most bills fall between 10K and 30K, with a long tail.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263640" y="137160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/mnt/user-data/uploads/Screenshot_2026-10-18_1731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116" y="1463040"/>
            <a:ext cx="4367728" cy="29718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55080" y="4709160"/>
            <a:ext cx="5349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plot: median, spread, outliers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is the IQR (Q1 to Q3); the line is the median (about 21K).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above roughly 53K are outliers, reaching about 140K, so use the median.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73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E9AA7">
              <a:alpha val="10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486400"/>
            <a:ext cx="2560320" cy="2560320"/>
          </a:xfrm>
          <a:prstGeom prst="ellipse">
            <a:avLst/>
          </a:prstGeom>
          <a:solidFill>
            <a:srgbClr val="0B2A3C">
              <a:alpha val="7000"/>
            </a:srgbClr>
          </a:solidFill>
          <a:ln w="12700">
            <a:solidFill>
              <a:srgbClr val="0B2A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777240" cy="7772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557327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EDA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60350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 distribution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722376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user-data/uploads/Screenshot_2026-10-18_1731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27271"/>
            <a:ext cx="6949440" cy="42721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924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092440" y="18288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categorical bar chart shows how outcomes of medical tests are split.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results lead (about 43K), followed by Abnormal (about 32K).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11K tests were Not performed and 6K are Unknown, worth auditing.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rate is about a third of all results.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92440" y="4937760"/>
            <a:ext cx="1143000" cy="1417320"/>
          </a:xfrm>
          <a:prstGeom prst="roundRect">
            <a:avLst>
              <a:gd name="adj" fmla="val 9600"/>
            </a:avLst>
          </a:prstGeom>
          <a:solidFill>
            <a:srgbClr val="0B2A3C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092440" y="50749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~43K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5623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308592" y="4937760"/>
            <a:ext cx="1143000" cy="1417320"/>
          </a:xfrm>
          <a:prstGeom prst="roundRect">
            <a:avLst>
              <a:gd name="adj" fmla="val 9600"/>
            </a:avLst>
          </a:prstGeom>
          <a:solidFill>
            <a:srgbClr val="0B2A3C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9308592" y="50749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~32K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9354312" y="5623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0524744" y="4937760"/>
            <a:ext cx="1143000" cy="1417320"/>
          </a:xfrm>
          <a:prstGeom prst="roundRect">
            <a:avLst>
              <a:gd name="adj" fmla="val 9600"/>
            </a:avLst>
          </a:prstGeom>
          <a:solidFill>
            <a:srgbClr val="0B2A3C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10524744" y="50749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~11K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10570464" y="5623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performed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73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E9AA7">
              <a:alpha val="10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486400"/>
            <a:ext cx="2560320" cy="2560320"/>
          </a:xfrm>
          <a:prstGeom prst="ellipse">
            <a:avLst/>
          </a:prstGeom>
          <a:solidFill>
            <a:srgbClr val="0B2A3C">
              <a:alpha val="7000"/>
            </a:srgbClr>
          </a:solidFill>
          <a:ln w="12700">
            <a:solidFill>
              <a:srgbClr val="0B2A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777240" cy="7772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557327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|  QUESTIONS 1 TO 10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60350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demographics and diagnosis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44068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1554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Demographics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2148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above 60 years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301752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29718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patients by gender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37947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per disease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22960" y="466344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600200" y="46177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Youngest cancer patient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22960" y="548640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600200" y="5440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grouped by city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263640" y="1371600"/>
            <a:ext cx="544068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537960" y="1554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379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and Diagnosis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537960" y="219456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37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0" y="2148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per diagnosis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537960" y="301752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379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29718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most common diseases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6537960" y="384048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5379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7315200" y="37947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rate above 10%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6537960" y="466344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3796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7315200" y="46177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multiple conditions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6537960" y="548640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3796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315200" y="5440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stay per disease</a:t>
            </a:r>
            <a:endParaRPr lang="en-US" sz="18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73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E9AA7">
              <a:alpha val="10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486400"/>
            <a:ext cx="2560320" cy="2560320"/>
          </a:xfrm>
          <a:prstGeom prst="ellipse">
            <a:avLst/>
          </a:prstGeom>
          <a:solidFill>
            <a:srgbClr val="0B2A3C">
              <a:alpha val="7000"/>
            </a:srgbClr>
          </a:solidFill>
          <a:ln w="12700">
            <a:solidFill>
              <a:srgbClr val="0B2A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777240" cy="7772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557327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|  QUESTIONS 11 TO 20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60350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treatments and hospitals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44068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1554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2148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Treatments for diabetes patients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301752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29718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treatment cost per disease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37947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above overall average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22960" y="466344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600200" y="46177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treatments by frequency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22960" y="548640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600200" y="5440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more than 3 treatments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263640" y="1371600"/>
            <a:ext cx="544068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537960" y="1554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379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537960" y="219456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37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0" y="2148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hospitals by patients treated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537960" y="301752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379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29718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treatment cost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6537960" y="384048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5379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7315200" y="37947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Hospital-wise recovery rate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6537960" y="466344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3796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7315200" y="46177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rate above 5%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6537960" y="548640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3796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315200" y="5440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with most cancer patients</a:t>
            </a:r>
            <a:endParaRPr lang="en-US" sz="18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73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E9AA7">
              <a:alpha val="10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486400"/>
            <a:ext cx="2560320" cy="2560320"/>
          </a:xfrm>
          <a:prstGeom prst="ellipse">
            <a:avLst/>
          </a:prstGeom>
          <a:solidFill>
            <a:srgbClr val="0B2A3C">
              <a:alpha val="7000"/>
            </a:srgbClr>
          </a:solidFill>
          <a:ln w="12700">
            <a:solidFill>
              <a:srgbClr val="0B2A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777240" cy="7772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557327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|  QUESTIONS 21 TO 30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60350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costs, billing and outcomes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44068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1554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and Billing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2148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per hospital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301752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29718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unpaid bills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37947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highest treatment costs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22960" y="466344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600200" y="46177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vs government avg cost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22960" y="548640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600200" y="5440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trend in 2026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263640" y="1371600"/>
            <a:ext cx="544068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537960" y="1554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379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537960" y="219456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37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0" y="2148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vs deceased per disease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537960" y="301752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379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29718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by age group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6537960" y="384048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5379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7315200" y="37947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average recovery time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6537960" y="466344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3796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7315200" y="46177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 within 30 days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6537960" y="5486400"/>
            <a:ext cx="548640" cy="5486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3796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315200" y="5440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rate: male vs female</a:t>
            </a:r>
            <a:endParaRPr lang="en-US" sz="18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73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E9AA7">
              <a:alpha val="10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486400"/>
            <a:ext cx="2560320" cy="2560320"/>
          </a:xfrm>
          <a:prstGeom prst="ellipse">
            <a:avLst/>
          </a:prstGeom>
          <a:solidFill>
            <a:srgbClr val="0B2A3C">
              <a:alpha val="7000"/>
            </a:srgbClr>
          </a:solidFill>
          <a:ln w="12700">
            <a:solidFill>
              <a:srgbClr val="0B2A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777240" cy="77724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557327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60350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1: Healthcare Analysis</a:t>
            </a:r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722376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292566" y="152933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>
                <a:latin typeface="Rockwell" panose="02060603020205020403" pitchFamily="18" charset="0"/>
              </a:rPr>
              <a:t>Healthcare Analytics – Key Points</a:t>
            </a:r>
            <a:endParaRPr lang="en-US" b="1" dirty="0">
              <a:latin typeface="Rockwell" panose="02060603020205020403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231336" y="21031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400" b="1" dirty="0"/>
              <a:t>Healthcare Analytics → Uses data to improve patient care and hospital efficiency.</a:t>
            </a:r>
          </a:p>
          <a:p>
            <a:pPr lvl="0"/>
            <a:r>
              <a:rPr lang="en-IN" sz="1400" b="1" dirty="0"/>
              <a:t>KPIs → Billing, Patients, Readmission Rate, Length of Stay, Encounters.</a:t>
            </a:r>
          </a:p>
          <a:p>
            <a:pPr lvl="0"/>
            <a:r>
              <a:rPr lang="en-IN" sz="1400" b="1" dirty="0"/>
              <a:t>Trends → Admission types (Elective, Emergency, Urgent), City-wise patient distribution.</a:t>
            </a:r>
          </a:p>
          <a:p>
            <a:pPr lvl="0"/>
            <a:r>
              <a:rPr lang="en-IN" sz="1400" b="1" dirty="0"/>
              <a:t>Satisfaction → Shows service quality across cities, highlights improvement areas.</a:t>
            </a:r>
          </a:p>
          <a:p>
            <a:pPr lvl="0"/>
            <a:r>
              <a:rPr lang="en-IN" sz="1400" b="1" dirty="0"/>
              <a:t>Benefits → Real-time monitoring, better decisions, improved outcomes, transparency.</a:t>
            </a:r>
          </a:p>
        </p:txBody>
      </p:sp>
      <p:sp>
        <p:nvSpPr>
          <p:cNvPr id="12" name="Shape 8"/>
          <p:cNvSpPr/>
          <p:nvPr/>
        </p:nvSpPr>
        <p:spPr>
          <a:xfrm>
            <a:off x="8092440" y="4937760"/>
            <a:ext cx="1143000" cy="1417320"/>
          </a:xfrm>
          <a:prstGeom prst="roundRect">
            <a:avLst>
              <a:gd name="adj" fmla="val 9600"/>
            </a:avLst>
          </a:prstGeom>
          <a:solidFill>
            <a:srgbClr val="0B2A3C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092440" y="50749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12K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5623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308592" y="4937760"/>
            <a:ext cx="1143000" cy="1417320"/>
          </a:xfrm>
          <a:prstGeom prst="roundRect">
            <a:avLst>
              <a:gd name="adj" fmla="val 9600"/>
            </a:avLst>
          </a:prstGeom>
          <a:solidFill>
            <a:srgbClr val="0B2A3C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9308592" y="50749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5.04 days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9354312" y="57150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stay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0524744" y="4937760"/>
            <a:ext cx="1143000" cy="1417320"/>
          </a:xfrm>
          <a:prstGeom prst="roundRect">
            <a:avLst>
              <a:gd name="adj" fmla="val 9600"/>
            </a:avLst>
          </a:prstGeom>
          <a:solidFill>
            <a:srgbClr val="0B2A3C"/>
          </a:solidFill>
          <a:ln w="9525">
            <a:solidFill>
              <a:srgbClr val="DDE8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10524744" y="50749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291.46M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10570464" y="5623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Billing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73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817AE04-B12B-4FDF-C163-EC3D2B17A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39" y="1397648"/>
            <a:ext cx="7505449" cy="49834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5943600" cy="5943600"/>
          </a:xfrm>
          <a:prstGeom prst="ellipse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5120640"/>
            <a:ext cx="3657600" cy="3657600"/>
          </a:xfrm>
          <a:prstGeom prst="ellipse">
            <a:avLst/>
          </a:prstGeom>
          <a:solidFill>
            <a:srgbClr val="0E9AA7">
              <a:alpha val="10000"/>
            </a:srgbClr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and 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123F5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072030"/>
            <a:ext cx="336499" cy="33649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16002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D3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gender mix; B+, A+ and O+ are the main blood groups.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123F5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874520"/>
            <a:ext cx="731520" cy="7315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207203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16002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D3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are right-skewed around 21K median with high-cost outliers.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48640" y="3246120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123F5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3657600"/>
            <a:ext cx="731520" cy="7315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3855110"/>
            <a:ext cx="336499" cy="33649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3832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D3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12% blood types and 6K test results are Unknown; improve data capture.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6217920" y="3246120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123F5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92240" y="3657600"/>
            <a:ext cx="731520" cy="7315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9750" y="3855110"/>
            <a:ext cx="336499" cy="33649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452360" y="33832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D3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31% of claims are covered by payers, a risk for patient affordability.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add predictive models for readmission and cost, and automate the Power BI refresh.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5852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852</Words>
  <Application>Microsoft Office PowerPoint</Application>
  <PresentationFormat>Widescreen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Data Analytics Project</dc:title>
  <dc:subject>PptxGenJS Presentation</dc:subject>
  <dc:creator>PptxGenJS</dc:creator>
  <cp:lastModifiedBy>Pranit Patil</cp:lastModifiedBy>
  <cp:revision>8</cp:revision>
  <dcterms:created xsi:type="dcterms:W3CDTF">2026-10-18T12:30:11Z</dcterms:created>
  <dcterms:modified xsi:type="dcterms:W3CDTF">2026-10-21T05:01:50Z</dcterms:modified>
</cp:coreProperties>
</file>